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5" r:id="rId3"/>
    <p:sldId id="263" r:id="rId4"/>
    <p:sldId id="264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C510-05EE-E55E-1877-9D0ED9310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49851-092F-4849-EB05-33E150411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E09BB-5F7B-ED5D-0C24-D3763D55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FF782-B315-20B6-6250-79E05223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D7FB7-C9FD-CAAF-2A3E-488F2FBB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4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BA9B-A8E8-CC78-82C1-86E09FB1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6C37-B286-C1D9-E2A2-6A778B02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98FB3-D489-2C6B-2F47-57FFFAC3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CE48-DD2B-6F52-3F6D-DE8E8C5F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930D-4538-6D79-D56B-989115D9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D977-7FAF-560F-9108-B806E737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A48D3-492F-45B7-6226-444656704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DC1DE-3356-7EA5-F34C-9DFF6882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E923D-D177-D7B3-CC91-306312FB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3C777-4906-BDAB-751E-F3F2721E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4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CD07-DCA6-BC10-9D2B-43246E2A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DE72A-052C-A7B3-8EF9-398C2C78D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653B0-210F-862C-1C83-22D77477F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0C836-1432-E6F3-9F07-76BBC90A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C4E38-4E88-3F7F-2152-EF636325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F4529-083C-BA2C-0138-BDDB9ABD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48F5-4D7B-7808-E057-7DB1CC12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A4D27-C741-44F4-847E-1695BCEA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FE982-3589-1EE8-11F2-96EB0F206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89035-87B9-0EDC-A216-39FAC1725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D1DEF-1445-FD3B-5B71-2A7389BBF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732FE-44DA-176B-24F5-4C80EDDB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1C3D7-61E6-9D48-F45A-3983021F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C6B58-1D58-CFFE-B989-37605CD7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F54F-7692-A77A-C7A3-FD4B75D7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52CA4-9191-53AA-F535-09B76949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A488B-82E4-422E-B361-22192F6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40B60-FF47-11A8-2C1D-E03A2ECF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6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4B0A9-90D3-2DE6-BEBB-67EBB9D6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CC511-E623-584E-347A-98926ED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8106A-99FF-D066-9947-1A45B794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BDCC-AA18-DB68-23C1-3A0ED1F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A93E-B261-1915-C636-9A8FB226B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2C808-15A7-703D-3675-B1393A9E2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6DA83-870F-427E-0F06-1ADA9CBC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1218F-DC97-8CBC-963B-1EEF6E85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CD1E7-D66D-6A52-2C8F-4F78079E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3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3B13-7BF0-BB90-0D17-490D9621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DBCB0-2CBE-F1D1-7BD2-CE2379115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E498A-08EC-9AD7-2BDD-DE7729D5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C5B30-D86F-8DC7-E68E-EE21DE16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44CFD-B79E-24A7-99B9-68DEA708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DD4BD-5929-6F13-7373-0A3FDB30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1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72AC-200A-C558-4393-D3CAEC83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82EF6-E51A-52B4-FC0D-36F84E082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12AB6-BE3D-2B16-129A-75A0BBFD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A3C4-0672-0D7D-055C-C09BFA60A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647E2-F073-765C-18FB-099E42C5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51382-4FAB-5176-F44B-2B8F63552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43974-CD60-D7E1-9F3C-972971EBF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21906-3553-E9A0-E6A3-9FD8BFB7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2F25-60B0-3447-1EDB-78C6FEF7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73BF-8134-1B6E-777A-63965761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7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97B34-F775-79FD-B88C-545E93B8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B6984-5D5B-B26D-6119-776200A6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77BD9-BF75-854B-FACB-EB3964FDF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2AC00-381E-44E9-BA17-3F641F1BF1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1EB-E58A-9DE8-67C1-CD922C52A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36106-9D62-A287-A342-F03B069B3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2C1D9-ED06-445C-A0DA-D719B963B9A6}" type="slidenum">
              <a:rPr lang="en-US" smtClean="0"/>
              <a:t>‹#›</a:t>
            </a:fld>
            <a:endParaRPr lang="en-US"/>
          </a:p>
        </p:txBody>
      </p:sp>
      <p:sp>
        <p:nvSpPr>
          <p:cNvPr id="950" name="Brand Accent Bar"/>
          <p:cNvSpPr/>
          <p:nvPr/>
        </p:nvSpPr>
        <p:spPr>
          <a:xfrm>
            <a:off x="457200" y="6248400"/>
            <a:ext cx="1143000" cy="57150"/>
          </a:xfrm>
          <a:prstGeom prst="rect">
            <a:avLst/>
          </a:prstGeom>
          <a:solidFill>
            <a:srgbClr val="00EDE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234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5305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0D0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2C51-BC9F-A411-32BE-40E3052AE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0"/>
            <a:ext cx="9144000" cy="1524000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rgbClr val="053057"/>
                </a:solidFill>
              </a:rPr>
              <a:t>Geppetto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7B0A4-6E12-932B-2D37-32F126588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724400"/>
            <a:ext cx="8128000" cy="139700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rgbClr val="053057"/>
                </a:solidFill>
              </a:rPr>
              <a:t>A truth layer for PMs</a:t>
            </a:r>
          </a:p>
          <a:p>
            <a:pPr algn="ctr">
              <a:spcBef>
                <a:spcPts val="600"/>
              </a:spcBef>
            </a:pPr>
            <a:r>
              <a:rPr lang="en-US" sz="1600" dirty="0">
                <a:solidFill>
                  <a:srgbClr val="314550"/>
                </a:solidFill>
              </a:rPr>
              <a:t>AI Hackathon at Blend360</a:t>
            </a:r>
          </a:p>
          <a:p>
            <a:pPr algn="ctr">
              <a:spcBef>
                <a:spcPts val="600"/>
              </a:spcBef>
            </a:pPr>
            <a:r>
              <a:rPr lang="en-US" sz="1600" dirty="0">
                <a:solidFill>
                  <a:srgbClr val="314550"/>
                </a:solidFill>
              </a:rPr>
              <a:t>Jun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C4A19-39F8-03C7-8EEB-8EEBE2D1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397000"/>
            <a:ext cx="2540000" cy="48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3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004D-FB9D-3EC8-ADEA-C6B08045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939800"/>
          </a:xfrm>
        </p:spPr>
        <p:txBody>
          <a:bodyPr/>
          <a:lstStyle/>
          <a:p>
            <a:r>
              <a:rPr lang="en-US" sz="3200" dirty="0">
                <a:solidFill>
                  <a:srgbClr val="053057"/>
                </a:solidFill>
              </a:rPr>
              <a:t>The problem Geppetto solves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4EE71-AA1A-37AB-9DA5-F8A1F53E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84200"/>
          </a:xfrm>
        </p:spPr>
        <p:txBody>
          <a:bodyPr/>
          <a:lstStyle/>
          <a:p>
            <a:pPr>
              <a:buNone/>
            </a:pPr>
            <a:r>
              <a:rPr lang="en-US" sz="2000" dirty="0">
                <a:solidFill>
                  <a:srgbClr val="053057"/>
                </a:solidFill>
              </a:rPr>
              <a:t>In status meetings, confident statements quietly drift from reality.</a:t>
            </a:r>
          </a:p>
        </p:txBody>
      </p:sp>
      <p:sp>
        <p:nvSpPr>
          <p:cNvPr id="201" name="r201"/>
          <p:cNvSpPr/>
          <p:nvPr/>
        </p:nvSpPr>
        <p:spPr>
          <a:xfrm>
            <a:off x="838200" y="2286000"/>
            <a:ext cx="3302000" cy="7366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pPr marL="177800"/>
            <a:r>
              <a:rPr lang="en-US" sz="1500" dirty="0">
                <a:solidFill>
                  <a:srgbClr val="053057"/>
                </a:solidFill>
              </a:rPr>
              <a:t>A deadline that already slipped</a:t>
            </a:r>
          </a:p>
        </p:txBody>
      </p:sp>
      <p:sp>
        <p:nvSpPr>
          <p:cNvPr id="202" name="r202"/>
          <p:cNvSpPr/>
          <p:nvPr/>
        </p:nvSpPr>
        <p:spPr>
          <a:xfrm>
            <a:off x="838200" y="2286000"/>
            <a:ext cx="101600" cy="736600"/>
          </a:xfrm>
          <a:prstGeom prst="rect">
            <a:avLst/>
          </a:prstGeom>
          <a:solidFill>
            <a:srgbClr val="00EDED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endParaRPr/>
          </a:p>
        </p:txBody>
      </p:sp>
      <p:sp>
        <p:nvSpPr>
          <p:cNvPr id="203" name="r203"/>
          <p:cNvSpPr/>
          <p:nvPr/>
        </p:nvSpPr>
        <p:spPr>
          <a:xfrm>
            <a:off x="4445000" y="2286000"/>
            <a:ext cx="3302000" cy="7366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pPr marL="177800"/>
            <a:r>
              <a:rPr lang="en-US" sz="1500" dirty="0">
                <a:solidFill>
                  <a:srgbClr val="053057"/>
                </a:solidFill>
              </a:rPr>
              <a:t>A sign-off that never happened</a:t>
            </a:r>
          </a:p>
        </p:txBody>
      </p:sp>
      <p:sp>
        <p:nvSpPr>
          <p:cNvPr id="204" name="r204"/>
          <p:cNvSpPr/>
          <p:nvPr/>
        </p:nvSpPr>
        <p:spPr>
          <a:xfrm>
            <a:off x="4445000" y="2286000"/>
            <a:ext cx="101600" cy="736600"/>
          </a:xfrm>
          <a:prstGeom prst="rect">
            <a:avLst/>
          </a:prstGeom>
          <a:solidFill>
            <a:srgbClr val="00EDED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endParaRPr/>
          </a:p>
        </p:txBody>
      </p:sp>
      <p:sp>
        <p:nvSpPr>
          <p:cNvPr id="205" name="r205"/>
          <p:cNvSpPr/>
          <p:nvPr/>
        </p:nvSpPr>
        <p:spPr>
          <a:xfrm>
            <a:off x="8051800" y="2286000"/>
            <a:ext cx="3302000" cy="7366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pPr marL="177800"/>
            <a:r>
              <a:rPr lang="en-US" sz="1500" dirty="0">
                <a:solidFill>
                  <a:srgbClr val="053057"/>
                </a:solidFill>
              </a:rPr>
              <a:t>A dependency still pending</a:t>
            </a:r>
          </a:p>
        </p:txBody>
      </p:sp>
      <p:sp>
        <p:nvSpPr>
          <p:cNvPr id="206" name="r206"/>
          <p:cNvSpPr/>
          <p:nvPr/>
        </p:nvSpPr>
        <p:spPr>
          <a:xfrm>
            <a:off x="8051800" y="2286000"/>
            <a:ext cx="101600" cy="736600"/>
          </a:xfrm>
          <a:prstGeom prst="rect">
            <a:avLst/>
          </a:prstGeom>
          <a:solidFill>
            <a:srgbClr val="00EDED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endParaRPr/>
          </a:p>
        </p:txBody>
      </p:sp>
      <p:sp>
        <p:nvSpPr>
          <p:cNvPr id="207" name="r207"/>
          <p:cNvSpPr/>
          <p:nvPr/>
        </p:nvSpPr>
        <p:spPr>
          <a:xfrm>
            <a:off x="838200" y="3378200"/>
            <a:ext cx="4978400" cy="24892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14550"/>
                </a:solidFill>
              </a:rPr>
              <a:t>TODAY</a:t>
            </a:r>
          </a:p>
          <a:p>
            <a:r>
              <a:rPr lang="en-US" sz="1800" dirty="0">
                <a:solidFill>
                  <a:srgbClr val="0B0D0E"/>
                </a:solidFill>
              </a:rPr>
              <a:t>You usually catch these </a:t>
            </a:r>
            <a:r>
              <a:rPr lang="en-US" sz="1800" dirty="0">
                <a:solidFill>
                  <a:srgbClr val="314550"/>
                </a:solidFill>
              </a:rPr>
              <a:t>after</a:t>
            </a:r>
            <a:r>
              <a:rPr lang="en-US" sz="1800" dirty="0">
                <a:solidFill>
                  <a:srgbClr val="0B0D0E"/>
                </a:solidFill>
              </a:rPr>
              <a:t> the meeting — too late to correct course in the room.</a:t>
            </a:r>
          </a:p>
        </p:txBody>
      </p:sp>
      <p:sp>
        <p:nvSpPr>
          <p:cNvPr id="208" name="r208"/>
          <p:cNvSpPr/>
          <p:nvPr/>
        </p:nvSpPr>
        <p:spPr>
          <a:xfrm>
            <a:off x="6375400" y="3378200"/>
            <a:ext cx="4978400" cy="2489200"/>
          </a:xfrm>
          <a:prstGeom prst="roundRect">
            <a:avLst/>
          </a:prstGeom>
          <a:solidFill>
            <a:srgbClr val="A2F3F3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53057"/>
                </a:solidFill>
              </a:rPr>
              <a:t>WITH GEPPETTO</a:t>
            </a:r>
          </a:p>
          <a:p>
            <a:r>
              <a:rPr lang="en-US" sz="1800" dirty="0">
                <a:solidFill>
                  <a:srgbClr val="053057"/>
                </a:solidFill>
              </a:rPr>
              <a:t>Geppetto moves that catch to </a:t>
            </a:r>
            <a:r>
              <a:rPr lang="en-US" sz="1800" b="0" dirty="0">
                <a:solidFill>
                  <a:srgbClr val="053057"/>
                </a:solidFill>
              </a:rPr>
              <a:t>during</a:t>
            </a:r>
            <a:r>
              <a:rPr lang="en-US" sz="1800" dirty="0">
                <a:solidFill>
                  <a:srgbClr val="053057"/>
                </a:solidFill>
              </a:rPr>
              <a:t> the meeting — so you fix it in the room.</a:t>
            </a:r>
          </a:p>
        </p:txBody>
      </p:sp>
      <p:sp>
        <p:nvSpPr>
          <p:cNvPr id="209" name="r209"/>
          <p:cNvSpPr/>
          <p:nvPr/>
        </p:nvSpPr>
        <p:spPr>
          <a:xfrm>
            <a:off x="5867400" y="4368800"/>
            <a:ext cx="508000" cy="508000"/>
          </a:xfrm>
          <a:prstGeom prst="rightArrow">
            <a:avLst/>
          </a:prstGeom>
          <a:solidFill>
            <a:srgbClr val="00EDED"/>
          </a:solidFill>
          <a:ln>
            <a:noFill/>
          </a:ln>
        </p:spPr>
        <p:txBody>
          <a:bodyPr wrap="square" lIns="177800" tIns="127000" rIns="177800" bIns="1270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408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0D7-49B7-AB35-62CA-9296FA58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53057"/>
                </a:solidFill>
              </a:rPr>
              <a:t>How it works</a:t>
            </a:r>
          </a:p>
        </p:txBody>
      </p:sp>
      <p:sp>
        <p:nvSpPr>
          <p:cNvPr id="301" name="s301"/>
          <p:cNvSpPr/>
          <p:nvPr/>
        </p:nvSpPr>
        <p:spPr>
          <a:xfrm>
            <a:off x="838200" y="2413000"/>
            <a:ext cx="1879600" cy="30988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02" name="s302"/>
          <p:cNvSpPr/>
          <p:nvPr/>
        </p:nvSpPr>
        <p:spPr>
          <a:xfrm>
            <a:off x="1498600" y="2590800"/>
            <a:ext cx="558800" cy="558800"/>
          </a:xfrm>
          <a:prstGeom prst="ellipse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800" dirty="0">
                <a:solidFill>
                  <a:srgbClr val="053057"/>
                </a:solidFill>
              </a:rPr>
              <a:t>1</a:t>
            </a:r>
          </a:p>
        </p:txBody>
      </p:sp>
      <p:sp>
        <p:nvSpPr>
          <p:cNvPr id="303" name="s303"/>
          <p:cNvSpPr/>
          <p:nvPr/>
        </p:nvSpPr>
        <p:spPr>
          <a:xfrm>
            <a:off x="914400" y="3251200"/>
            <a:ext cx="1727200" cy="609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053057"/>
                </a:solidFill>
              </a:rPr>
              <a:t>Input Layer</a:t>
            </a:r>
          </a:p>
        </p:txBody>
      </p:sp>
      <p:sp>
        <p:nvSpPr>
          <p:cNvPr id="304" name="s304"/>
          <p:cNvSpPr/>
          <p:nvPr/>
        </p:nvSpPr>
        <p:spPr>
          <a:xfrm>
            <a:off x="939800" y="3886200"/>
            <a:ext cx="1676400" cy="1498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400" dirty="0">
                <a:solidFill>
                  <a:srgbClr val="0B0D0E"/>
                </a:solidFill>
              </a:rPr>
              <a:t>Live meeting audio captured from the call</a:t>
            </a:r>
          </a:p>
        </p:txBody>
      </p:sp>
      <p:sp>
        <p:nvSpPr>
          <p:cNvPr id="305" name="s305"/>
          <p:cNvSpPr/>
          <p:nvPr/>
        </p:nvSpPr>
        <p:spPr>
          <a:xfrm>
            <a:off x="2717800" y="3784600"/>
            <a:ext cx="254000" cy="355600"/>
          </a:xfrm>
          <a:prstGeom prst="rightArrow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06" name="s306"/>
          <p:cNvSpPr/>
          <p:nvPr/>
        </p:nvSpPr>
        <p:spPr>
          <a:xfrm>
            <a:off x="2997200" y="2413000"/>
            <a:ext cx="1879600" cy="30988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07" name="s307"/>
          <p:cNvSpPr/>
          <p:nvPr/>
        </p:nvSpPr>
        <p:spPr>
          <a:xfrm>
            <a:off x="3657600" y="2590800"/>
            <a:ext cx="558800" cy="558800"/>
          </a:xfrm>
          <a:prstGeom prst="ellipse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800" dirty="0">
                <a:solidFill>
                  <a:srgbClr val="053057"/>
                </a:solidFill>
              </a:rPr>
              <a:t>2</a:t>
            </a:r>
          </a:p>
        </p:txBody>
      </p:sp>
      <p:sp>
        <p:nvSpPr>
          <p:cNvPr id="308" name="s308"/>
          <p:cNvSpPr/>
          <p:nvPr/>
        </p:nvSpPr>
        <p:spPr>
          <a:xfrm>
            <a:off x="3073400" y="3251200"/>
            <a:ext cx="1727200" cy="609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053057"/>
                </a:solidFill>
              </a:rPr>
              <a:t>Audio Pipeline</a:t>
            </a:r>
          </a:p>
        </p:txBody>
      </p:sp>
      <p:sp>
        <p:nvSpPr>
          <p:cNvPr id="309" name="s309"/>
          <p:cNvSpPr/>
          <p:nvPr/>
        </p:nvSpPr>
        <p:spPr>
          <a:xfrm>
            <a:off x="3098800" y="3886200"/>
            <a:ext cx="1676400" cy="1498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400" dirty="0">
                <a:solidFill>
                  <a:srgbClr val="0B0D0E"/>
                </a:solidFill>
              </a:rPr>
              <a:t>Whisper transcribes speech in real time</a:t>
            </a:r>
          </a:p>
        </p:txBody>
      </p:sp>
      <p:sp>
        <p:nvSpPr>
          <p:cNvPr id="310" name="s310"/>
          <p:cNvSpPr/>
          <p:nvPr/>
        </p:nvSpPr>
        <p:spPr>
          <a:xfrm>
            <a:off x="4876800" y="3784600"/>
            <a:ext cx="254000" cy="355600"/>
          </a:xfrm>
          <a:prstGeom prst="rightArrow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11" name="s311"/>
          <p:cNvSpPr/>
          <p:nvPr/>
        </p:nvSpPr>
        <p:spPr>
          <a:xfrm>
            <a:off x="5156200" y="2413000"/>
            <a:ext cx="1879600" cy="30988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12" name="s312"/>
          <p:cNvSpPr/>
          <p:nvPr/>
        </p:nvSpPr>
        <p:spPr>
          <a:xfrm>
            <a:off x="5816600" y="2590800"/>
            <a:ext cx="558800" cy="558800"/>
          </a:xfrm>
          <a:prstGeom prst="ellipse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800" dirty="0">
                <a:solidFill>
                  <a:srgbClr val="053057"/>
                </a:solidFill>
              </a:rPr>
              <a:t>3</a:t>
            </a:r>
          </a:p>
        </p:txBody>
      </p:sp>
      <p:sp>
        <p:nvSpPr>
          <p:cNvPr id="313" name="s313"/>
          <p:cNvSpPr/>
          <p:nvPr/>
        </p:nvSpPr>
        <p:spPr>
          <a:xfrm>
            <a:off x="5232400" y="3251200"/>
            <a:ext cx="1727200" cy="609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053057"/>
                </a:solidFill>
              </a:rPr>
              <a:t>Validation Engine</a:t>
            </a:r>
          </a:p>
        </p:txBody>
      </p:sp>
      <p:sp>
        <p:nvSpPr>
          <p:cNvPr id="314" name="s314"/>
          <p:cNvSpPr/>
          <p:nvPr/>
        </p:nvSpPr>
        <p:spPr>
          <a:xfrm>
            <a:off x="5257800" y="3886200"/>
            <a:ext cx="1676400" cy="1498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400" dirty="0">
                <a:solidFill>
                  <a:srgbClr val="0B0D0E"/>
                </a:solidFill>
              </a:rPr>
              <a:t>Claude checks claims against the record</a:t>
            </a:r>
          </a:p>
        </p:txBody>
      </p:sp>
      <p:sp>
        <p:nvSpPr>
          <p:cNvPr id="315" name="s315"/>
          <p:cNvSpPr/>
          <p:nvPr/>
        </p:nvSpPr>
        <p:spPr>
          <a:xfrm>
            <a:off x="7035800" y="3784600"/>
            <a:ext cx="254000" cy="355600"/>
          </a:xfrm>
          <a:prstGeom prst="rightArrow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16" name="s316"/>
          <p:cNvSpPr/>
          <p:nvPr/>
        </p:nvSpPr>
        <p:spPr>
          <a:xfrm>
            <a:off x="7315200" y="2413000"/>
            <a:ext cx="1879600" cy="30988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17" name="s317"/>
          <p:cNvSpPr/>
          <p:nvPr/>
        </p:nvSpPr>
        <p:spPr>
          <a:xfrm>
            <a:off x="7975600" y="2590800"/>
            <a:ext cx="558800" cy="558800"/>
          </a:xfrm>
          <a:prstGeom prst="ellipse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800" dirty="0">
                <a:solidFill>
                  <a:srgbClr val="053057"/>
                </a:solidFill>
              </a:rPr>
              <a:t>4</a:t>
            </a:r>
          </a:p>
        </p:txBody>
      </p:sp>
      <p:sp>
        <p:nvSpPr>
          <p:cNvPr id="318" name="s318"/>
          <p:cNvSpPr/>
          <p:nvPr/>
        </p:nvSpPr>
        <p:spPr>
          <a:xfrm>
            <a:off x="7391400" y="3251200"/>
            <a:ext cx="1727200" cy="609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053057"/>
                </a:solidFill>
              </a:rPr>
              <a:t>Output Layer</a:t>
            </a:r>
          </a:p>
        </p:txBody>
      </p:sp>
      <p:sp>
        <p:nvSpPr>
          <p:cNvPr id="319" name="s319"/>
          <p:cNvSpPr/>
          <p:nvPr/>
        </p:nvSpPr>
        <p:spPr>
          <a:xfrm>
            <a:off x="7416800" y="3886200"/>
            <a:ext cx="1676400" cy="1498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400" dirty="0">
                <a:solidFill>
                  <a:srgbClr val="0B0D0E"/>
                </a:solidFill>
              </a:rPr>
              <a:t>Flags drift in the room, instantly</a:t>
            </a:r>
          </a:p>
        </p:txBody>
      </p:sp>
      <p:sp>
        <p:nvSpPr>
          <p:cNvPr id="320" name="s320"/>
          <p:cNvSpPr/>
          <p:nvPr/>
        </p:nvSpPr>
        <p:spPr>
          <a:xfrm>
            <a:off x="9194800" y="3784600"/>
            <a:ext cx="254000" cy="355600"/>
          </a:xfrm>
          <a:prstGeom prst="rightArrow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21" name="s321"/>
          <p:cNvSpPr/>
          <p:nvPr/>
        </p:nvSpPr>
        <p:spPr>
          <a:xfrm>
            <a:off x="9474200" y="2413000"/>
            <a:ext cx="1879600" cy="3098800"/>
          </a:xfrm>
          <a:prstGeom prst="round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/>
          </a:p>
        </p:txBody>
      </p:sp>
      <p:sp>
        <p:nvSpPr>
          <p:cNvPr id="322" name="s322"/>
          <p:cNvSpPr/>
          <p:nvPr/>
        </p:nvSpPr>
        <p:spPr>
          <a:xfrm>
            <a:off x="10134600" y="2590800"/>
            <a:ext cx="558800" cy="558800"/>
          </a:xfrm>
          <a:prstGeom prst="ellipse">
            <a:avLst/>
          </a:prstGeom>
          <a:solidFill>
            <a:srgbClr val="00EDE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800" dirty="0">
                <a:solidFill>
                  <a:srgbClr val="053057"/>
                </a:solidFill>
              </a:rPr>
              <a:t>5</a:t>
            </a:r>
          </a:p>
        </p:txBody>
      </p:sp>
      <p:sp>
        <p:nvSpPr>
          <p:cNvPr id="323" name="s323"/>
          <p:cNvSpPr/>
          <p:nvPr/>
        </p:nvSpPr>
        <p:spPr>
          <a:xfrm>
            <a:off x="9550400" y="3251200"/>
            <a:ext cx="1727200" cy="609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053057"/>
                </a:solidFill>
              </a:rPr>
              <a:t>Knowledge Layer</a:t>
            </a:r>
          </a:p>
        </p:txBody>
      </p:sp>
      <p:sp>
        <p:nvSpPr>
          <p:cNvPr id="324" name="s324"/>
          <p:cNvSpPr/>
          <p:nvPr/>
        </p:nvSpPr>
        <p:spPr>
          <a:xfrm>
            <a:off x="9575800" y="3886200"/>
            <a:ext cx="1676400" cy="149860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400" dirty="0">
                <a:solidFill>
                  <a:srgbClr val="0B0D0E"/>
                </a:solidFill>
              </a:rPr>
              <a:t>Transcripts &amp; status reports as ground truth</a:t>
            </a:r>
          </a:p>
        </p:txBody>
      </p:sp>
      <p:sp>
        <p:nvSpPr>
          <p:cNvPr id="325" name="s325"/>
          <p:cNvSpPr/>
          <p:nvPr/>
        </p:nvSpPr>
        <p:spPr>
          <a:xfrm>
            <a:off x="838200" y="5740400"/>
            <a:ext cx="10515600" cy="508000"/>
          </a:xfrm>
          <a:prstGeom prst="roundRect">
            <a:avLst/>
          </a:prstGeom>
          <a:solidFill>
            <a:srgbClr val="053057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</a:rPr>
              <a:t>The knowledge layer compounds — every meeting sharpens the next.</a:t>
            </a:r>
          </a:p>
        </p:txBody>
      </p:sp>
    </p:spTree>
    <p:extLst>
      <p:ext uri="{BB962C8B-B14F-4D97-AF65-F5344CB8AC3E}">
        <p14:creationId xmlns:p14="http://schemas.microsoft.com/office/powerpoint/2010/main" val="63651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E998-D2C6-4914-5BA3-B886827C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85800"/>
          </a:xfrm>
        </p:spPr>
        <p:txBody>
          <a:bodyPr/>
          <a:lstStyle/>
          <a:p>
            <a:r>
              <a:rPr lang="en-US" sz="3200" dirty="0">
                <a:solidFill>
                  <a:srgbClr val="053057"/>
                </a:solidFill>
              </a:rPr>
              <a:t>System architecture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6FBCEB-36B0-2A88-A4EB-A20449CB5631}"/>
              </a:ext>
            </a:extLst>
          </p:cNvPr>
          <p:cNvGrpSpPr/>
          <p:nvPr/>
        </p:nvGrpSpPr>
        <p:grpSpPr>
          <a:xfrm>
            <a:off x="1854200" y="990600"/>
            <a:ext cx="9228328" cy="5689600"/>
            <a:chOff x="2242714" y="1010841"/>
            <a:chExt cx="8620971" cy="5143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253E0E-0B75-ECAE-C7D7-403AD4A34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2714" y="1010841"/>
              <a:ext cx="8620971" cy="5143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DEBCA1-2A5F-9922-56EE-2203D9DBD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7214" y="1904968"/>
              <a:ext cx="460411" cy="413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30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8C85-0886-A4F3-B591-13351B25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3200" dirty="0"/>
              <a:t>How </a:t>
            </a:r>
            <a:r>
              <a:rPr lang="es-CO" sz="3200" dirty="0" err="1"/>
              <a:t>it</a:t>
            </a:r>
            <a:r>
              <a:rPr lang="es-CO" sz="3200" dirty="0"/>
              <a:t> looks ?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1AE76-9F56-9E0F-B8F0-C3BFC23C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63C7E-BC0B-6940-AA96-FADE8521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42" y="1353922"/>
            <a:ext cx="10609558" cy="482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3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F310-111F-E536-37F6-B8B2914C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A2804-23C2-E922-94A2-EA806AB5A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8625" y="365125"/>
            <a:ext cx="2841684" cy="5960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14998-BB88-FB5E-3AF1-EE9F2C9B5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4" y="1836992"/>
            <a:ext cx="8341001" cy="401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0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498466947]">
  <a:themeElements>
    <a:clrScheme name="Office">
      <a:dk1>
        <a:srgbClr val="053057"/>
      </a:dk1>
      <a:lt1>
        <a:srgbClr val="FFFFFF"/>
      </a:lt1>
      <a:dk2>
        <a:srgbClr val="0B0D0E"/>
      </a:dk2>
      <a:lt2>
        <a:srgbClr val="F4F3F0"/>
      </a:lt2>
      <a:accent1>
        <a:srgbClr val="00EDED"/>
      </a:accent1>
      <a:accent2>
        <a:srgbClr val="053057"/>
      </a:accent2>
      <a:accent3>
        <a:srgbClr val="A2F3F3"/>
      </a:accent3>
      <a:accent4>
        <a:srgbClr val="314550"/>
      </a:accent4>
      <a:accent5>
        <a:srgbClr val="0B0D0E"/>
      </a:accent5>
      <a:accent6>
        <a:srgbClr val="F4F3F0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E57FF2-2A35-4D73-9FA0-F2D43ECFFFC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6edbc3b-5d61-41a5-a561-2e8d592106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146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Montserrat</vt:lpstr>
      <vt:lpstr>Office Theme [1782498466947]</vt:lpstr>
      <vt:lpstr>Geppetto</vt:lpstr>
      <vt:lpstr>The problem Geppetto solves</vt:lpstr>
      <vt:lpstr>How it works</vt:lpstr>
      <vt:lpstr>System architecture</vt:lpstr>
      <vt:lpstr>How it looks 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Fonseca</dc:creator>
  <cp:lastModifiedBy>Ivan Fonseca</cp:lastModifiedBy>
  <cp:revision>3</cp:revision>
  <dcterms:created xsi:type="dcterms:W3CDTF">2026-06-26T17:16:09Z</dcterms:created>
  <dcterms:modified xsi:type="dcterms:W3CDTF">2026-06-30T15:32:15Z</dcterms:modified>
</cp:coreProperties>
</file>